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4E0F-CCCD-4ACF-9755-C1FAFA90E846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6B2D-C75C-43F6-B62A-7FD8CFE5F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262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4E0F-CCCD-4ACF-9755-C1FAFA90E846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6B2D-C75C-43F6-B62A-7FD8CFE5F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875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4E0F-CCCD-4ACF-9755-C1FAFA90E846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6B2D-C75C-43F6-B62A-7FD8CFE5F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294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4E0F-CCCD-4ACF-9755-C1FAFA90E846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6B2D-C75C-43F6-B62A-7FD8CFE5F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339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4E0F-CCCD-4ACF-9755-C1FAFA90E846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6B2D-C75C-43F6-B62A-7FD8CFE5F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1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4E0F-CCCD-4ACF-9755-C1FAFA90E846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6B2D-C75C-43F6-B62A-7FD8CFE5F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40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4E0F-CCCD-4ACF-9755-C1FAFA90E846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6B2D-C75C-43F6-B62A-7FD8CFE5F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455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4E0F-CCCD-4ACF-9755-C1FAFA90E846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6B2D-C75C-43F6-B62A-7FD8CFE5F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398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4E0F-CCCD-4ACF-9755-C1FAFA90E846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6B2D-C75C-43F6-B62A-7FD8CFE5F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88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4E0F-CCCD-4ACF-9755-C1FAFA90E846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6B2D-C75C-43F6-B62A-7FD8CFE5F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43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4E0F-CCCD-4ACF-9755-C1FAFA90E846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6B2D-C75C-43F6-B62A-7FD8CFE5F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388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4E0F-CCCD-4ACF-9755-C1FAFA90E846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6B2D-C75C-43F6-B62A-7FD8CFE5F3B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61148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4E0F-CCCD-4ACF-9755-C1FAFA90E846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6B2D-C75C-43F6-B62A-7FD8CFE5F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755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4E0F-CCCD-4ACF-9755-C1FAFA90E846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6B2D-C75C-43F6-B62A-7FD8CFE5F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913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4E0F-CCCD-4ACF-9755-C1FAFA90E846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6B2D-C75C-43F6-B62A-7FD8CFE5F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1647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4E0F-CCCD-4ACF-9755-C1FAFA90E846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6B2D-C75C-43F6-B62A-7FD8CFE5F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021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4E0F-CCCD-4ACF-9755-C1FAFA90E846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06B2D-C75C-43F6-B62A-7FD8CFE5F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488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CFD4E0F-CCCD-4ACF-9755-C1FAFA90E846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E06B2D-C75C-43F6-B62A-7FD8CFE5F3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0697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EFAFA-6D0C-CFAB-576C-BEE250E2A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41788"/>
            <a:ext cx="8825658" cy="861421"/>
          </a:xfrm>
        </p:spPr>
        <p:txBody>
          <a:bodyPr/>
          <a:lstStyle/>
          <a:p>
            <a:pPr algn="ctr"/>
            <a:r>
              <a:rPr lang="en-IN" sz="48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LAST RESISTANCE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BDB795-2CBA-F83E-A8EF-A178DEA3A291}"/>
              </a:ext>
            </a:extLst>
          </p:cNvPr>
          <p:cNvSpPr txBox="1"/>
          <p:nvPr/>
        </p:nvSpPr>
        <p:spPr>
          <a:xfrm>
            <a:off x="1002890" y="2634108"/>
            <a:ext cx="101862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Story Board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338668-F3FE-1499-F998-ED0A698E66B6}"/>
              </a:ext>
            </a:extLst>
          </p:cNvPr>
          <p:cNvSpPr txBox="1"/>
          <p:nvPr/>
        </p:nvSpPr>
        <p:spPr>
          <a:xfrm>
            <a:off x="7960084" y="6027003"/>
            <a:ext cx="4041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 By</a:t>
            </a:r>
            <a:r>
              <a:rPr lang="en-I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Paras Garg</a:t>
            </a:r>
          </a:p>
          <a:p>
            <a:pPr algn="ctr"/>
            <a:r>
              <a:rPr lang="en-IN" sz="24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No.</a:t>
            </a:r>
            <a:r>
              <a:rPr lang="en-I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2310992173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5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0FDE-FEE1-DFE8-AD46-D4EF8D000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0"/>
            <a:ext cx="9404723" cy="1111045"/>
          </a:xfrm>
        </p:spPr>
        <p:txBody>
          <a:bodyPr/>
          <a:lstStyle/>
          <a:p>
            <a:pPr algn="ctr"/>
            <a:r>
              <a:rPr lang="en-IN" sz="40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 – 1</a:t>
            </a:r>
            <a:r>
              <a:rPr lang="en-IN" sz="40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SETUP</a:t>
            </a:r>
            <a:endParaRPr lang="en-IN" sz="4000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69BFAA-BC33-94BB-2753-C874C15030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1" y="1111045"/>
            <a:ext cx="4083205" cy="483622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AC9CBE-7EE3-A167-F64C-7F01D546BC1F}"/>
              </a:ext>
            </a:extLst>
          </p:cNvPr>
          <p:cNvSpPr txBox="1"/>
          <p:nvPr/>
        </p:nvSpPr>
        <p:spPr>
          <a:xfrm>
            <a:off x="6096000" y="1616784"/>
            <a:ext cx="51226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Players gather around the physical board placed on a flat surface.</a:t>
            </a:r>
          </a:p>
          <a:p>
            <a:pPr algn="just"/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player uses their mobile device to scan and initialize the AR system.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game begins as a shared tabletop experience, ready to transform into AR.</a:t>
            </a:r>
            <a:endPara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545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02F7D-1C3C-2A04-5B45-81C99E500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A4488-BA07-8393-AD6C-50D43C430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0"/>
            <a:ext cx="9404723" cy="1111045"/>
          </a:xfrm>
        </p:spPr>
        <p:txBody>
          <a:bodyPr/>
          <a:lstStyle/>
          <a:p>
            <a:pPr algn="ctr"/>
            <a:r>
              <a:rPr lang="en-IN" sz="40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 – 2</a:t>
            </a:r>
            <a:r>
              <a:rPr lang="en-IN" sz="40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SCANNING THE BOARD</a:t>
            </a:r>
            <a:endParaRPr lang="en-IN" sz="4000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E030A-4580-6CF4-2118-D062494B5F21}"/>
              </a:ext>
            </a:extLst>
          </p:cNvPr>
          <p:cNvSpPr txBox="1"/>
          <p:nvPr/>
        </p:nvSpPr>
        <p:spPr>
          <a:xfrm>
            <a:off x="6096000" y="1616784"/>
            <a:ext cx="51226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Players scan the board using their mobile devices to detect the surface.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 system recognizes the board layout and locks onto it.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overlay is initialized, preparing the transition into the AR experience.</a:t>
            </a:r>
            <a:endPara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711049-5EAA-3068-2936-F24420912B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1" y="1059425"/>
            <a:ext cx="4604315" cy="47391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7461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96451-A9CE-72D6-D2FD-FD88EAC53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B4382-3806-0149-C0E0-77CC53F0B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0"/>
            <a:ext cx="9404723" cy="1111045"/>
          </a:xfrm>
        </p:spPr>
        <p:txBody>
          <a:bodyPr/>
          <a:lstStyle/>
          <a:p>
            <a:pPr algn="ctr"/>
            <a:r>
              <a:rPr lang="en-IN" sz="40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 – 3</a:t>
            </a:r>
            <a:r>
              <a:rPr lang="en-IN" sz="40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CHARACTER DISTRIBUTION</a:t>
            </a:r>
            <a:endParaRPr lang="en-IN" sz="4000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F916AC-549D-9940-D215-0B635A0B52B7}"/>
              </a:ext>
            </a:extLst>
          </p:cNvPr>
          <p:cNvSpPr txBox="1"/>
          <p:nvPr/>
        </p:nvSpPr>
        <p:spPr>
          <a:xfrm>
            <a:off x="6096000" y="1616784"/>
            <a:ext cx="51226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player receives a hidden character role through their personal device.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their own role is visible, maintaining secrecy and tension.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asymmetry, where every player has unique abilities and powers.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90C3F6-477C-BA02-F770-5E37069CC0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0" y="1111044"/>
            <a:ext cx="4132367" cy="47784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6467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16A5E-C5E7-7D37-53FC-818FCDB5C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99A8B-4A1C-4DAE-9DEC-A5F015A82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0"/>
            <a:ext cx="9404723" cy="1111045"/>
          </a:xfrm>
        </p:spPr>
        <p:txBody>
          <a:bodyPr/>
          <a:lstStyle/>
          <a:p>
            <a:pPr algn="ctr"/>
            <a:r>
              <a:rPr lang="en-IN" sz="40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 – 4</a:t>
            </a:r>
            <a:r>
              <a:rPr lang="en-IN" sz="40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MID GAME CHAOS</a:t>
            </a:r>
            <a:endParaRPr lang="en-IN" sz="4000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584D8A-5C18-18C2-5288-F1E184922D4A}"/>
              </a:ext>
            </a:extLst>
          </p:cNvPr>
          <p:cNvSpPr txBox="1"/>
          <p:nvPr/>
        </p:nvSpPr>
        <p:spPr>
          <a:xfrm>
            <a:off x="6096000" y="1616784"/>
            <a:ext cx="51226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Players execute actions as events trigger unexpected shifts across the battlefield.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Alliances form and break as hidden roles begin to influence decisions.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Tension peaks as strategy, uncertainty and betrayal collide in real time.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CE93B8-8696-3E96-B059-D14FDF7B60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1" y="1111045"/>
            <a:ext cx="4230689" cy="47942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1724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ADF7D-B6ED-7D9D-ACD8-A943C95BD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125F-7183-EDE8-AD70-3E4EE6CCC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0"/>
            <a:ext cx="9404723" cy="1111045"/>
          </a:xfrm>
        </p:spPr>
        <p:txBody>
          <a:bodyPr/>
          <a:lstStyle/>
          <a:p>
            <a:pPr algn="ctr"/>
            <a:r>
              <a:rPr lang="en-IN" sz="40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 – 4</a:t>
            </a:r>
            <a:r>
              <a:rPr lang="en-IN" sz="40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MID GAME CHAOS</a:t>
            </a:r>
            <a:endParaRPr lang="en-IN" sz="4000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BB203C-C23E-E9AC-EC11-52613335802C}"/>
              </a:ext>
            </a:extLst>
          </p:cNvPr>
          <p:cNvSpPr txBox="1"/>
          <p:nvPr/>
        </p:nvSpPr>
        <p:spPr>
          <a:xfrm>
            <a:off x="6096000" y="1616784"/>
            <a:ext cx="512260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sides have their own event cards, which they have to draw in each turn.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events affect the player stats on each step of the game, adding some fun.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Tension peaks as strategy, uncertainty and betrayal collide in real time.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0EB748-A9E6-7831-94D9-BCBCEF4E7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111046"/>
            <a:ext cx="3955386" cy="503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8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372D4-0252-F15D-0A89-A74DD1929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CF5C8-D5C0-5775-6476-9312DCF93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0"/>
            <a:ext cx="9404723" cy="1111045"/>
          </a:xfrm>
        </p:spPr>
        <p:txBody>
          <a:bodyPr/>
          <a:lstStyle/>
          <a:p>
            <a:pPr algn="ctr"/>
            <a:r>
              <a:rPr lang="en-IN" sz="40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 – 4</a:t>
            </a:r>
            <a:r>
              <a:rPr lang="en-IN" sz="40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MID GAME CHAOS</a:t>
            </a:r>
            <a:endParaRPr lang="en-IN" sz="4000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E012B5-2645-3A1E-4137-C0CC534C6329}"/>
              </a:ext>
            </a:extLst>
          </p:cNvPr>
          <p:cNvSpPr txBox="1"/>
          <p:nvPr/>
        </p:nvSpPr>
        <p:spPr>
          <a:xfrm>
            <a:off x="6096000" y="1616784"/>
            <a:ext cx="51226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Rebels have to maintain their stats in the whole game (Strength &amp; Morale).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these stats is the most important thing to balance on the way to victory.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Tension peaks when the Hidden Betrayal takes place.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2344B4-F98D-3B6C-053C-0A658B89DD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11" y="1111045"/>
            <a:ext cx="3493270" cy="45877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5894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50E5A-F551-EF97-C381-324F8ED82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A619309-1E64-78DD-CB4D-F18116EA4A6E}"/>
              </a:ext>
            </a:extLst>
          </p:cNvPr>
          <p:cNvSpPr txBox="1"/>
          <p:nvPr/>
        </p:nvSpPr>
        <p:spPr>
          <a:xfrm>
            <a:off x="1002890" y="2721114"/>
            <a:ext cx="101862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Gameplay Story Board</a:t>
            </a:r>
          </a:p>
        </p:txBody>
      </p:sp>
    </p:spTree>
    <p:extLst>
      <p:ext uri="{BB962C8B-B14F-4D97-AF65-F5344CB8AC3E}">
        <p14:creationId xmlns:p14="http://schemas.microsoft.com/office/powerpoint/2010/main" val="3002785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E32E3-1B2D-A025-8E3D-B46E6C4EA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22D6-A4F2-6F60-61D0-7E7F49EB7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0"/>
            <a:ext cx="9404723" cy="1111045"/>
          </a:xfrm>
        </p:spPr>
        <p:txBody>
          <a:bodyPr/>
          <a:lstStyle/>
          <a:p>
            <a:pPr algn="ctr"/>
            <a:r>
              <a:rPr lang="en-IN" sz="40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SETTING OF PLAYER TOKENS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30CF4D-BB06-198B-3A4B-F70689C06F86}"/>
              </a:ext>
            </a:extLst>
          </p:cNvPr>
          <p:cNvSpPr txBox="1"/>
          <p:nvPr/>
        </p:nvSpPr>
        <p:spPr>
          <a:xfrm>
            <a:off x="6096000" y="1616784"/>
            <a:ext cx="51226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player scans the board and get’s assigned a role/character.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rebel tokens get an initial value for ‘Strength’ &amp; ‘Morale’ at the start. The core loop contains maintaining these meters throughout the game.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1214C4-9722-585A-8470-707024CC1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0" y="1111044"/>
            <a:ext cx="5122605" cy="512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275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0959D-F79E-F025-2314-935EB4B46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1D901-9B29-0A1A-1D73-6DCF2D7B7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69" y="0"/>
            <a:ext cx="9519892" cy="1111045"/>
          </a:xfrm>
        </p:spPr>
        <p:txBody>
          <a:bodyPr/>
          <a:lstStyle/>
          <a:p>
            <a:pPr algn="ctr"/>
            <a:r>
              <a:rPr lang="en-IN" sz="40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PLAN ATTACKS ON ENEMY BUILDINGS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52D5A1-D706-A6E6-EAB5-044578E2C7A9}"/>
              </a:ext>
            </a:extLst>
          </p:cNvPr>
          <p:cNvSpPr txBox="1"/>
          <p:nvPr/>
        </p:nvSpPr>
        <p:spPr>
          <a:xfrm>
            <a:off x="6096000" y="1616784"/>
            <a:ext cx="512260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some Buildings / Checkpoints that are already under the control of the enemy.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Building has a specific Power, defined by the number of enemy forces stationed there.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rebels got to coordinate their attacks and free these buildings from the Enemy’s control accordingly.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706C18-A9AE-431A-82C6-FBC36712AB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69" y="1111045"/>
            <a:ext cx="5142271" cy="514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071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E216B-7B79-25B7-672B-9C3365A58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84FCC-CD13-84BC-C994-6684BA166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0"/>
            <a:ext cx="9404723" cy="1111045"/>
          </a:xfrm>
        </p:spPr>
        <p:txBody>
          <a:bodyPr/>
          <a:lstStyle/>
          <a:p>
            <a:pPr algn="ctr"/>
            <a:r>
              <a:rPr lang="en-IN" sz="40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TRIGGER EVENTS ALONG THE WAY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73B1A9-C9FF-A58F-7347-845CFFA7FB35}"/>
              </a:ext>
            </a:extLst>
          </p:cNvPr>
          <p:cNvSpPr txBox="1"/>
          <p:nvPr/>
        </p:nvSpPr>
        <p:spPr>
          <a:xfrm>
            <a:off x="6096000" y="1616784"/>
            <a:ext cx="512260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players move towards their objective tile-by-tile, some tiles trigger an ‘Event’ and they have to draw a card.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Event cards affect the stats of the characters (both buffs and debuffs), altering their strength or morale.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cards add a sense of probability and eventfulness throughout the game, maintaining the factor of Fun.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5B96F5-8408-03E1-564B-6549542AD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0" y="1111044"/>
            <a:ext cx="5122606" cy="512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862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048C1-2A8E-47FA-0106-E90E0DCBE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D50E-FF06-D9DD-586B-561A5446F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0"/>
            <a:ext cx="9404723" cy="1111045"/>
          </a:xfrm>
        </p:spPr>
        <p:txBody>
          <a:bodyPr/>
          <a:lstStyle/>
          <a:p>
            <a:pPr algn="ctr"/>
            <a:r>
              <a:rPr lang="en-IN" sz="40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HIDDEN TRIGGER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36E00A-6792-AE37-4779-75CB7C5C20B7}"/>
              </a:ext>
            </a:extLst>
          </p:cNvPr>
          <p:cNvSpPr txBox="1"/>
          <p:nvPr/>
        </p:nvSpPr>
        <p:spPr>
          <a:xfrm>
            <a:off x="6096000" y="1616784"/>
            <a:ext cx="512260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 critical moment in the game, a hidden trigger activates, secretly turning one Rebel into the enemy’s ally.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other players witness destruction and chaos, one player receives a different reality - revealing their transformation into ‘General 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Bulba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 breaks instantly, forcing players to question every move and alliance.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AE4C95-64EE-9984-9A30-9EE77A1CC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111045"/>
            <a:ext cx="5161935" cy="516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19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32711-812C-BF25-6FEF-1F5E671CB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03837-AFFB-4152-787F-3C3C6E68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0"/>
            <a:ext cx="9404723" cy="1111045"/>
          </a:xfrm>
        </p:spPr>
        <p:txBody>
          <a:bodyPr/>
          <a:lstStyle/>
          <a:p>
            <a:pPr algn="ctr"/>
            <a:r>
              <a:rPr lang="en-IN" sz="40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HIDDEN TRIGGER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E90ED9-B428-D1F7-DC53-AF742E7CEFD9}"/>
              </a:ext>
            </a:extLst>
          </p:cNvPr>
          <p:cNvSpPr txBox="1"/>
          <p:nvPr/>
        </p:nvSpPr>
        <p:spPr>
          <a:xfrm>
            <a:off x="6096000" y="1616784"/>
            <a:ext cx="512260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Rebel being offered the Deal receives a different message.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mechanic introduces asymmetry in perception, where each player experiences the same event differently.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moment defines the game, transforming it from strategy into a psychological battle of deception and survival.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EF2DAC-6C74-7E1B-7BA0-79EC3043C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2" y="1111046"/>
            <a:ext cx="5171768" cy="517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079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29D78-7507-674C-8FE7-0B0305E95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11D45-D3B0-BA1B-5B64-B4F242037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0"/>
            <a:ext cx="9404723" cy="1111045"/>
          </a:xfrm>
        </p:spPr>
        <p:txBody>
          <a:bodyPr/>
          <a:lstStyle/>
          <a:p>
            <a:pPr algn="ctr"/>
            <a:r>
              <a:rPr lang="en-IN" sz="4000" b="1" i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Enemy’s POV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48E27D-27B5-AC61-29C0-FC284D3D9D15}"/>
              </a:ext>
            </a:extLst>
          </p:cNvPr>
          <p:cNvSpPr txBox="1"/>
          <p:nvPr/>
        </p:nvSpPr>
        <p:spPr>
          <a:xfrm>
            <a:off x="6096000" y="1616784"/>
            <a:ext cx="512260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fourth player takes control as the Soviet Leader, viewing the battlefield with a strategic and authoritative perspective.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fourth player takes control as the Soviet Leader, viewing the battlefield with a strategic and authoritative perspective.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asymmetrical gameplay, where one player commands power while others fight for survival. This creates asymmetrical gameplay, where one player commands power while others fight for survival.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298CC4-AEED-912F-01ED-056F005B5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111045"/>
            <a:ext cx="5312236" cy="502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059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0DE1F-ECA8-2843-E0CE-2466D4151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36FDFC-096A-9F33-AECA-36E7885F8030}"/>
              </a:ext>
            </a:extLst>
          </p:cNvPr>
          <p:cNvSpPr txBox="1"/>
          <p:nvPr/>
        </p:nvSpPr>
        <p:spPr>
          <a:xfrm>
            <a:off x="1002890" y="2634108"/>
            <a:ext cx="101862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6553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161</TotalTime>
  <Words>655</Words>
  <Application>Microsoft Office PowerPoint</Application>
  <PresentationFormat>Widescreen</PresentationFormat>
  <Paragraphs>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Century Gothic</vt:lpstr>
      <vt:lpstr>Times New Roman</vt:lpstr>
      <vt:lpstr>Wingdings</vt:lpstr>
      <vt:lpstr>Wingdings 3</vt:lpstr>
      <vt:lpstr>Ion</vt:lpstr>
      <vt:lpstr>THE LAST RESISTANCE</vt:lpstr>
      <vt:lpstr>STEP – 1: SETUP</vt:lpstr>
      <vt:lpstr>STEP – 2: SCANNING THE BOARD</vt:lpstr>
      <vt:lpstr>STEP – 3: CHARACTER DISTRIBUTION</vt:lpstr>
      <vt:lpstr>STEP – 4: MID GAME CHAOS</vt:lpstr>
      <vt:lpstr>STEP – 4: MID GAME CHAOS</vt:lpstr>
      <vt:lpstr>STEP – 4: MID GAME CHAOS</vt:lpstr>
      <vt:lpstr>PowerPoint Presentation</vt:lpstr>
      <vt:lpstr>SETTING OF PLAYER TOKENS</vt:lpstr>
      <vt:lpstr>PLAN ATTACKS ON ENEMY BUILDINGS</vt:lpstr>
      <vt:lpstr>TRIGGER EVENTS ALONG THE WAY</vt:lpstr>
      <vt:lpstr>HIDDEN TRIGGER</vt:lpstr>
      <vt:lpstr>HIDDEN TRIGGER</vt:lpstr>
      <vt:lpstr>Enemy’s POV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Paras Garg</dc:creator>
  <cp:lastModifiedBy>Paras Garg</cp:lastModifiedBy>
  <cp:revision>17</cp:revision>
  <dcterms:created xsi:type="dcterms:W3CDTF">2026-04-08T06:19:57Z</dcterms:created>
  <dcterms:modified xsi:type="dcterms:W3CDTF">2026-06-03T04:34:17Z</dcterms:modified>
</cp:coreProperties>
</file>